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10" r:id="rId5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46" d="100"/>
          <a:sy n="146" d="100"/>
        </p:scale>
        <p:origin x="59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ENCONTRO 2: PRÁTICAS DE LIDERANÇA MULTIPLICADORA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011" y="3653118"/>
            <a:ext cx="7504463" cy="109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Formando Líderes que Formam Outros: A Cultura do Servir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144524"/>
            <a:ext cx="4152298" cy="2951461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🙏 SLIDE 1: BEM-VINDOS DE VOLTA!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Encontro 2 de 2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b="1"/>
              <a:t>Formando Líderes que Formam Outros</a:t>
            </a:r>
          </a:p>
          <a:p>
            <a:pPr marL="1270000" lvl="0" indent="0">
              <a:lnSpc>
                <a:spcPct val="90000"/>
              </a:lnSpc>
              <a:buNone/>
            </a:pPr>
            <a:r>
              <a:rPr lang="pt-BR" sz="1700"/>
              <a:t>“E as palavras que me ouviu dizer na presença de muitas testemunhas, confie-as a homens fiéis que sejam também capazes de ensinar outros.”</a:t>
            </a:r>
            <a:br>
              <a:rPr lang="pt-BR" sz="1700"/>
            </a:br>
            <a:r>
              <a:rPr lang="pt-BR" sz="1700" b="1"/>
              <a:t>2 Timóteo 2:2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📋 SLIDE 2: RECAPITULANDO O ENCONTRO 1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O que aprendemos: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/>
              <a:t>✅ A diferença entre ovelhas e trabalhadores</a:t>
            </a:r>
            <a:br>
              <a:rPr lang="pt-BR" sz="1700"/>
            </a:br>
            <a:r>
              <a:rPr lang="pt-BR" sz="1700"/>
              <a:t>✅ A identidade do líder servo</a:t>
            </a:r>
            <a:br>
              <a:rPr lang="pt-BR" sz="1700"/>
            </a:br>
            <a:r>
              <a:rPr lang="pt-BR" sz="1700"/>
              <a:t>✅ Todo líder é uma ponte</a:t>
            </a:r>
            <a:br>
              <a:rPr lang="pt-BR" sz="1700"/>
            </a:br>
            <a:r>
              <a:rPr lang="pt-BR" sz="1700"/>
              <a:t>✅ Cuidar de pessoas, não de funções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Quem quer compartilhar: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b="1"/>
              <a:t>“O que mudou desde o último encontro?”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144524"/>
            <a:ext cx="4152298" cy="2951461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🎯 SLIDE 3: OBJETIVO DE HOJE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Ao final deste encontro, você será capaz de: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/>
              <a:t>✅ Comunicar-se de forma que gera unidade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/>
              <a:t>✅ Identificar e formar novos líderes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/>
              <a:t>✅ Delegar com sabedoria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/>
              <a:t>✅ Criar uma cultura de alcance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/>
              <a:t>✅ Ter um plano prático de multiplicação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📌 BLOCO 3: COMUNICAÇÃO QUE GERA UNIDADE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144524"/>
            <a:ext cx="4152298" cy="2951461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000" b="1"/>
              <a:t>💬 SLIDE 4: A IMPORTÂNCIA DA COMUNICAÇÃO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000" b="1"/>
              <a:t>Sua comunicação pode: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2000"/>
              <a:t>✅ </a:t>
            </a:r>
            <a:r>
              <a:rPr lang="pt-BR" sz="2000" b="1"/>
              <a:t>Unir</a:t>
            </a:r>
            <a:r>
              <a:rPr lang="pt-BR" sz="2000"/>
              <a:t> a equipe ou </a:t>
            </a:r>
            <a:r>
              <a:rPr lang="pt-BR" sz="2000" b="1"/>
              <a:t>dividi-la</a:t>
            </a:r>
            <a:br>
              <a:rPr lang="pt-BR" sz="2000"/>
            </a:br>
            <a:r>
              <a:rPr lang="pt-BR" sz="2000"/>
              <a:t>✅ </a:t>
            </a:r>
            <a:r>
              <a:rPr lang="pt-BR" sz="2000" b="1"/>
              <a:t>Inspirar</a:t>
            </a:r>
            <a:r>
              <a:rPr lang="pt-BR" sz="2000"/>
              <a:t> pessoas ou </a:t>
            </a:r>
            <a:r>
              <a:rPr lang="pt-BR" sz="2000" b="1"/>
              <a:t>desmotivar</a:t>
            </a:r>
            <a:br>
              <a:rPr lang="pt-BR" sz="2000"/>
            </a:br>
            <a:r>
              <a:rPr lang="pt-BR" sz="2000"/>
              <a:t>✅ </a:t>
            </a:r>
            <a:r>
              <a:rPr lang="pt-BR" sz="2000" b="1"/>
              <a:t>Clarear</a:t>
            </a:r>
            <a:r>
              <a:rPr lang="pt-BR" sz="2000"/>
              <a:t> a visão ou </a:t>
            </a:r>
            <a:r>
              <a:rPr lang="pt-BR" sz="2000" b="1"/>
              <a:t>confundir</a:t>
            </a:r>
            <a:br>
              <a:rPr lang="pt-BR" sz="2000"/>
            </a:br>
            <a:r>
              <a:rPr lang="pt-BR" sz="2000"/>
              <a:t>✅ </a:t>
            </a:r>
            <a:r>
              <a:rPr lang="pt-BR" sz="2000" b="1"/>
              <a:t>Construir</a:t>
            </a:r>
            <a:r>
              <a:rPr lang="pt-BR" sz="2000"/>
              <a:t> pontes ou </a:t>
            </a:r>
            <a:r>
              <a:rPr lang="pt-BR" sz="2000" b="1"/>
              <a:t>criar</a:t>
            </a:r>
            <a:r>
              <a:rPr lang="pt-BR" sz="2000"/>
              <a:t> muros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372" y="437698"/>
            <a:ext cx="4949370" cy="433160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400" b="1" dirty="0"/>
              <a:t>SLIDE 5: COMUNICAÇÃO CLARA vs COMUNICAÇÃO QUE INSPIRA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7686984"/>
              </p:ext>
            </p:extLst>
          </p:nvPr>
        </p:nvGraphicFramePr>
        <p:xfrm>
          <a:off x="1856014" y="936172"/>
          <a:ext cx="5105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b="1" dirty="0"/>
                        <a:t>CLARA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b="1"/>
                        <a:t>+ INSPIRADORA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“Façam isso”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“Vamos fazer isso porque…”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“É sua função”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“Seu papel é essencial para…”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“O pastor pediu”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“Juntos vamos alcançar…”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“Preciso que você…”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“Você é a pessoa certa para…”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Informa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Informa + Motiva + </a:t>
                      </a:r>
                      <a:r>
                        <a:rPr sz="1800" dirty="0" err="1"/>
                        <a:t>Conecta</a:t>
                      </a:r>
                      <a:r>
                        <a:rPr sz="1800" dirty="0"/>
                        <a:t> à </a:t>
                      </a:r>
                      <a:r>
                        <a:rPr sz="1800" dirty="0" err="1"/>
                        <a:t>visão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000" b="1"/>
              <a:t>🌾 SLIDE 6: MANTENDO VIVA A CULTURA DO SERVIR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000" b="1"/>
              <a:t>A cultura não se mantém sozinha. Ela precisa ser: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2000" b="1"/>
              <a:t>Comunicada</a:t>
            </a:r>
            <a:r>
              <a:rPr lang="pt-BR" sz="2000"/>
              <a:t> constantemente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2000" b="1"/>
              <a:t>Modelada</a:t>
            </a:r>
            <a:r>
              <a:rPr lang="pt-BR" sz="2000"/>
              <a:t> pelos líderes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2000" b="1"/>
              <a:t>Celebrada</a:t>
            </a:r>
            <a:r>
              <a:rPr lang="pt-BR" sz="2000"/>
              <a:t> quando acontece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2000" b="1"/>
              <a:t>Corrigida</a:t>
            </a:r>
            <a:r>
              <a:rPr lang="pt-BR" sz="2000"/>
              <a:t> quando se perde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2000" b="1"/>
              <a:t>Transmitida</a:t>
            </a:r>
            <a:r>
              <a:rPr lang="pt-BR" sz="2000"/>
              <a:t> para novos membros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SLIDE 7: COMO ALINHAR A EQUIPE COM A VISÃO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4 Passos Práticos: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900" b="1"/>
              <a:t>Conheça</a:t>
            </a:r>
            <a:r>
              <a:rPr lang="pt-BR" sz="1900"/>
              <a:t> a visão profundamente (não apenas superficialmente)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900" b="1"/>
              <a:t>Traduza</a:t>
            </a:r>
            <a:r>
              <a:rPr lang="pt-BR" sz="1900"/>
              <a:t> a visão para o contexto da sua equipe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900" b="1"/>
              <a:t>Repita</a:t>
            </a:r>
            <a:r>
              <a:rPr lang="pt-BR" sz="1900"/>
              <a:t> a visão de formas criativas e constantes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900" b="1"/>
              <a:t>Celebre</a:t>
            </a:r>
            <a:r>
              <a:rPr lang="pt-BR" sz="1900"/>
              <a:t> quando alguém vive a visão na prática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🛠️ SLIDE 8: CORRIGIR SEM FERIR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Princípios de Correção com Amor: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900"/>
              <a:t>✅ </a:t>
            </a:r>
            <a:r>
              <a:rPr lang="pt-BR" sz="1900" b="1"/>
              <a:t>Privacidade</a:t>
            </a:r>
            <a:r>
              <a:rPr lang="pt-BR" sz="1900"/>
              <a:t> - nunca exponha publicamente</a:t>
            </a:r>
            <a:br>
              <a:rPr lang="pt-BR" sz="1900"/>
            </a:br>
            <a:r>
              <a:rPr lang="pt-BR" sz="1900"/>
              <a:t>✅ </a:t>
            </a:r>
            <a:r>
              <a:rPr lang="pt-BR" sz="1900" b="1"/>
              <a:t>Propósito</a:t>
            </a:r>
            <a:r>
              <a:rPr lang="pt-BR" sz="1900"/>
              <a:t> - corrija para restaurar, não para punir</a:t>
            </a:r>
            <a:br>
              <a:rPr lang="pt-BR" sz="1900"/>
            </a:br>
            <a:r>
              <a:rPr lang="pt-BR" sz="1900"/>
              <a:t>✅ </a:t>
            </a:r>
            <a:r>
              <a:rPr lang="pt-BR" sz="1900" b="1"/>
              <a:t>Precisão</a:t>
            </a:r>
            <a:r>
              <a:rPr lang="pt-BR" sz="1900"/>
              <a:t> - seja específico, não genérico</a:t>
            </a:r>
            <a:br>
              <a:rPr lang="pt-BR" sz="1900"/>
            </a:br>
            <a:r>
              <a:rPr lang="pt-BR" sz="1900"/>
              <a:t>✅ </a:t>
            </a:r>
            <a:r>
              <a:rPr lang="pt-BR" sz="1900" b="1"/>
              <a:t>Proposição</a:t>
            </a:r>
            <a:r>
              <a:rPr lang="pt-BR" sz="1900"/>
              <a:t> - ofereça o caminho de crescimento</a:t>
            </a:r>
            <a:br>
              <a:rPr lang="pt-BR" sz="1900"/>
            </a:br>
            <a:r>
              <a:rPr lang="pt-BR" sz="1900"/>
              <a:t>✅ </a:t>
            </a:r>
            <a:r>
              <a:rPr lang="pt-BR" sz="1900" b="1"/>
              <a:t>Parceria</a:t>
            </a:r>
            <a:r>
              <a:rPr lang="pt-BR" sz="1900"/>
              <a:t> - “vamos juntos trabalhar nisso”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SLIDE 9: CONFRONTAR SEM PERDER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Quando confrontar é necessário: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Ore</a:t>
            </a:r>
            <a:r>
              <a:rPr lang="pt-BR" sz="1700"/>
              <a:t> antes de falar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Prepare</a:t>
            </a:r>
            <a:r>
              <a:rPr lang="pt-BR" sz="1700"/>
              <a:t> o que vai dizer (não improvise)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Ouça</a:t>
            </a:r>
            <a:r>
              <a:rPr lang="pt-BR" sz="1700"/>
              <a:t> tanto quanto fala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Foque</a:t>
            </a:r>
            <a:r>
              <a:rPr lang="pt-BR" sz="1700"/>
              <a:t> no comportamento, não na pessoa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Ofereça</a:t>
            </a:r>
            <a:r>
              <a:rPr lang="pt-BR" sz="1700"/>
              <a:t> ajuda prática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Acompanhe</a:t>
            </a:r>
            <a:r>
              <a:rPr lang="pt-BR" sz="1700"/>
              <a:t> o processo de mudança</a:t>
            </a:r>
          </a:p>
          <a:p>
            <a:pPr marL="1270000" lvl="0" indent="0">
              <a:lnSpc>
                <a:spcPct val="90000"/>
              </a:lnSpc>
              <a:buNone/>
            </a:pPr>
            <a:r>
              <a:rPr lang="pt-BR" sz="1700"/>
              <a:t>“Irmãos, se alguém for surpreendido em algum pecado, vocês, que são espirituais, deverão restaurá-lo com mansidão.”</a:t>
            </a:r>
            <a:br>
              <a:rPr lang="pt-BR" sz="1700"/>
            </a:br>
            <a:r>
              <a:rPr lang="pt-BR" sz="1700" b="1"/>
              <a:t>Gálatas 6:1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758283"/>
            <a:ext cx="3277394" cy="3277395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SLIDE 10: EXEMPLO PRÁTICO DE COMUNICAÇÃO UNIFICADORA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❌ Evite: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/>
              <a:t>“Pessoal, o pastor mudou a programação de novo. Temos que nos adaptar.”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✅ Prefira: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/>
              <a:t>“Pessoal, o pastor está sempre sensível ao que Deus está fazendo. Essa mudança vai nos ajudar a alcançar mais pessoas. Vamos abraçar isso juntos?”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b="1"/>
              <a:t>Diferença:</a:t>
            </a:r>
            <a:r>
              <a:rPr lang="pt-BR" sz="1700"/>
              <a:t> Você é ponte, não barreira.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144524"/>
            <a:ext cx="4152298" cy="2951461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200" b="1"/>
              <a:t>SLIDE 11: REFLEXÃO RÁPIDA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200" b="1"/>
              <a:t>Pense em sua última comunicação com a equipe:</a:t>
            </a:r>
          </a:p>
          <a:p>
            <a:pPr lvl="0">
              <a:lnSpc>
                <a:spcPct val="90000"/>
              </a:lnSpc>
            </a:pPr>
            <a:r>
              <a:rPr lang="pt-BR" sz="2200"/>
              <a:t>Ela </a:t>
            </a:r>
            <a:r>
              <a:rPr lang="pt-BR" sz="2200" b="1"/>
              <a:t>uniu</a:t>
            </a:r>
            <a:r>
              <a:rPr lang="pt-BR" sz="2200"/>
              <a:t> ou </a:t>
            </a:r>
            <a:r>
              <a:rPr lang="pt-BR" sz="2200" b="1"/>
              <a:t>dividiu</a:t>
            </a:r>
            <a:r>
              <a:rPr lang="pt-BR" sz="2200"/>
              <a:t>?</a:t>
            </a:r>
          </a:p>
          <a:p>
            <a:pPr lvl="0">
              <a:lnSpc>
                <a:spcPct val="90000"/>
              </a:lnSpc>
            </a:pPr>
            <a:r>
              <a:rPr lang="pt-BR" sz="2200"/>
              <a:t>Ela </a:t>
            </a:r>
            <a:r>
              <a:rPr lang="pt-BR" sz="2200" b="1"/>
              <a:t>inspirou</a:t>
            </a:r>
            <a:r>
              <a:rPr lang="pt-BR" sz="2200"/>
              <a:t> ou apenas </a:t>
            </a:r>
            <a:r>
              <a:rPr lang="pt-BR" sz="2200" b="1"/>
              <a:t>informou</a:t>
            </a:r>
            <a:r>
              <a:rPr lang="pt-BR" sz="2200"/>
              <a:t>?</a:t>
            </a:r>
          </a:p>
          <a:p>
            <a:pPr lvl="0">
              <a:lnSpc>
                <a:spcPct val="90000"/>
              </a:lnSpc>
            </a:pPr>
            <a:r>
              <a:rPr lang="pt-BR" sz="2200"/>
              <a:t>Você foi </a:t>
            </a:r>
            <a:r>
              <a:rPr lang="pt-BR" sz="2200" b="1"/>
              <a:t>ponte</a:t>
            </a:r>
            <a:r>
              <a:rPr lang="pt-BR" sz="2200"/>
              <a:t> ou </a:t>
            </a:r>
            <a:r>
              <a:rPr lang="pt-BR" sz="2200" b="1"/>
              <a:t>barreira</a:t>
            </a:r>
            <a:r>
              <a:rPr lang="pt-BR" sz="2200"/>
              <a:t>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📌 BLOCO 4: FORMANDO NOVOS LÍDERES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144524"/>
            <a:ext cx="4152298" cy="2951461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500" b="1"/>
              <a:t>🌱 SLIDE 12: O CHAMADO PARA GERAR TRABALHADORES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500" b="1"/>
              <a:t>Deus não te chamou apenas para fazer a obra.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500" b="1"/>
              <a:t>Te chamou para formar quem vai continuar a obra.</a:t>
            </a:r>
          </a:p>
          <a:p>
            <a:pPr marL="1270000" lvl="0" indent="0">
              <a:lnSpc>
                <a:spcPct val="90000"/>
              </a:lnSpc>
              <a:buNone/>
            </a:pPr>
            <a:r>
              <a:rPr lang="pt-BR" sz="1500"/>
              <a:t>“O que de mim ouviste… transmite a homens fiéis que sejam também capazes de ensinar outros.”</a:t>
            </a:r>
            <a:br>
              <a:rPr lang="pt-BR" sz="1500"/>
            </a:br>
            <a:r>
              <a:rPr lang="pt-BR" sz="1500" b="1"/>
              <a:t>2 Timóteo 2:2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SLIDE 13: MULTIPLICAR É MAIS PODEROSO QUE RETER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O líder imaturo pensa: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900"/>
              <a:t>“Se eu formar alguém, vou perder meu lugar.”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O líder maduro pensa: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900"/>
              <a:t>“Se eu formar alguém, vou multiplicar o Reino.”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900" b="1"/>
              <a:t>Maturidade é não ter medo de ver outros crescerem.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 dirty="0"/>
              <a:t>👀 SLIDE 14: IDENTIFICANDO POTENCIAIS LÍDERES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 dirty="0"/>
              <a:t>Procure por quem tem: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dirty="0"/>
              <a:t>✅ </a:t>
            </a:r>
            <a:r>
              <a:rPr lang="pt-BR" sz="1700" b="1" dirty="0"/>
              <a:t>FADIC - Fidelidade, Disponibilidade, Disposição, Interesse e Compromisso.</a:t>
            </a:r>
            <a:br>
              <a:rPr lang="pt-BR" sz="1700" dirty="0"/>
            </a:br>
            <a:r>
              <a:rPr lang="pt-BR" sz="1700" dirty="0"/>
              <a:t>✅ Coração de servo</a:t>
            </a:r>
            <a:br>
              <a:rPr lang="pt-BR" sz="1700" dirty="0"/>
            </a:br>
            <a:r>
              <a:rPr lang="pt-BR" sz="1700" dirty="0"/>
              <a:t>✅ Sede de aprender</a:t>
            </a:r>
            <a:br>
              <a:rPr lang="pt-BR" sz="1700" dirty="0"/>
            </a:br>
            <a:r>
              <a:rPr lang="pt-BR" sz="1700" dirty="0"/>
              <a:t>✅ Influência natural (outros o ouvem)</a:t>
            </a:r>
            <a:br>
              <a:rPr lang="pt-BR" sz="1700" dirty="0"/>
            </a:br>
            <a:r>
              <a:rPr lang="pt-BR" sz="1700" dirty="0"/>
              <a:t>✅ Responsabilidade com o que já faz</a:t>
            </a:r>
            <a:br>
              <a:rPr lang="pt-BR" sz="1700" dirty="0"/>
            </a:br>
            <a:r>
              <a:rPr lang="pt-BR" sz="1700" dirty="0"/>
              <a:t>✅ Alinhamento com a visão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b="1" dirty="0"/>
              <a:t>Não procure por perfeitos. Procure por fiéis.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SLIDE 15: O PROCESSO DE FORMAÇÃO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4 Estágios do Discipulado de Líderes: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EU FAÇO, VOCÊ OBSERVA</a:t>
            </a:r>
            <a:br>
              <a:rPr lang="pt-BR" sz="1700"/>
            </a:br>
            <a:r>
              <a:rPr lang="pt-BR" sz="1700"/>
              <a:t>(Eu modelo, você aprende)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EU FAÇO, VOCÊ AJUDA</a:t>
            </a:r>
            <a:br>
              <a:rPr lang="pt-BR" sz="1700"/>
            </a:br>
            <a:r>
              <a:rPr lang="pt-BR" sz="1700"/>
              <a:t>(Fazemos juntos)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VOCÊ FAZ, EU SUPERVISIONO</a:t>
            </a:r>
            <a:br>
              <a:rPr lang="pt-BR" sz="1700"/>
            </a:br>
            <a:r>
              <a:rPr lang="pt-BR" sz="1700"/>
              <a:t>(Você lidera, eu apoio)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VOCÊ FAZ, VOCÊ MULTIPLICA</a:t>
            </a:r>
            <a:br>
              <a:rPr lang="pt-BR" sz="1700"/>
            </a:br>
            <a:r>
              <a:rPr lang="pt-BR" sz="1700"/>
              <a:t>(Você está pronto para formar outros)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758283"/>
            <a:ext cx="3277394" cy="3277395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SLIDE 16: ESTÁGIO 1: EU FAÇO, VOCÊ OBSERVA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Nesta fase:</a:t>
            </a:r>
          </a:p>
          <a:p>
            <a:pPr lvl="0">
              <a:lnSpc>
                <a:spcPct val="90000"/>
              </a:lnSpc>
            </a:pPr>
            <a:r>
              <a:rPr lang="pt-BR" sz="1700" b="1"/>
              <a:t>Convide</a:t>
            </a:r>
            <a:r>
              <a:rPr lang="pt-BR" sz="1700"/>
              <a:t> a pessoa para estar com você</a:t>
            </a:r>
          </a:p>
          <a:p>
            <a:pPr lvl="0">
              <a:lnSpc>
                <a:spcPct val="90000"/>
              </a:lnSpc>
            </a:pPr>
            <a:r>
              <a:rPr lang="pt-BR" sz="1700" b="1"/>
              <a:t>Explique</a:t>
            </a:r>
            <a:r>
              <a:rPr lang="pt-BR" sz="1700"/>
              <a:t> o que você está fazendo e por quê</a:t>
            </a:r>
          </a:p>
          <a:p>
            <a:pPr lvl="0">
              <a:lnSpc>
                <a:spcPct val="90000"/>
              </a:lnSpc>
            </a:pPr>
            <a:r>
              <a:rPr lang="pt-BR" sz="1700" b="1"/>
              <a:t>Permita</a:t>
            </a:r>
            <a:r>
              <a:rPr lang="pt-BR" sz="1700"/>
              <a:t> perguntas</a:t>
            </a:r>
          </a:p>
          <a:p>
            <a:pPr lvl="0">
              <a:lnSpc>
                <a:spcPct val="90000"/>
              </a:lnSpc>
            </a:pPr>
            <a:r>
              <a:rPr lang="pt-BR" sz="1700" b="1"/>
              <a:t>Compartilhe</a:t>
            </a:r>
            <a:r>
              <a:rPr lang="pt-BR" sz="1700"/>
              <a:t> até os desafios</a:t>
            </a:r>
          </a:p>
          <a:p>
            <a:pPr lvl="0">
              <a:lnSpc>
                <a:spcPct val="90000"/>
              </a:lnSpc>
            </a:pPr>
            <a:r>
              <a:rPr lang="pt-BR" sz="1700" b="1"/>
              <a:t>Ore</a:t>
            </a:r>
            <a:r>
              <a:rPr lang="pt-BR" sz="1700"/>
              <a:t> junto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b="1"/>
              <a:t>Lembre-se:</a:t>
            </a:r>
            <a:r>
              <a:rPr lang="pt-BR" sz="1700"/>
              <a:t> Jesus fez isso com os 12.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SLIDE 17: ESTÁGIO 2: EU FAÇO, VOCÊ AJUDA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Nesta fase:</a:t>
            </a:r>
          </a:p>
          <a:p>
            <a:pPr lvl="0">
              <a:lnSpc>
                <a:spcPct val="90000"/>
              </a:lnSpc>
            </a:pPr>
            <a:r>
              <a:rPr lang="pt-BR" sz="1700" b="1"/>
              <a:t>Delegue</a:t>
            </a:r>
            <a:r>
              <a:rPr lang="pt-BR" sz="1700"/>
              <a:t> partes pequenas da responsabilidade</a:t>
            </a:r>
          </a:p>
          <a:p>
            <a:pPr lvl="0">
              <a:lnSpc>
                <a:spcPct val="90000"/>
              </a:lnSpc>
            </a:pPr>
            <a:r>
              <a:rPr lang="pt-BR" sz="1700" b="1"/>
              <a:t>Trabalhem</a:t>
            </a:r>
            <a:r>
              <a:rPr lang="pt-BR" sz="1700"/>
              <a:t> lado a lado</a:t>
            </a:r>
          </a:p>
          <a:p>
            <a:pPr lvl="0">
              <a:lnSpc>
                <a:spcPct val="90000"/>
              </a:lnSpc>
            </a:pPr>
            <a:r>
              <a:rPr lang="pt-BR" sz="1700" b="1"/>
              <a:t>Corrija</a:t>
            </a:r>
            <a:r>
              <a:rPr lang="pt-BR" sz="1700"/>
              <a:t> com gentileza no processo</a:t>
            </a:r>
          </a:p>
          <a:p>
            <a:pPr lvl="0">
              <a:lnSpc>
                <a:spcPct val="90000"/>
              </a:lnSpc>
            </a:pPr>
            <a:r>
              <a:rPr lang="pt-BR" sz="1700" b="1"/>
              <a:t>Celebre</a:t>
            </a:r>
            <a:r>
              <a:rPr lang="pt-BR" sz="1700"/>
              <a:t> os acertos</a:t>
            </a:r>
          </a:p>
          <a:p>
            <a:pPr lvl="0">
              <a:lnSpc>
                <a:spcPct val="90000"/>
              </a:lnSpc>
            </a:pPr>
            <a:r>
              <a:rPr lang="pt-BR" sz="1700" b="1"/>
              <a:t>Encoraje</a:t>
            </a:r>
            <a:r>
              <a:rPr lang="pt-BR" sz="1700"/>
              <a:t> nos erros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b="1"/>
              <a:t>Lembre-se:</a:t>
            </a:r>
            <a:r>
              <a:rPr lang="pt-BR" sz="1700"/>
              <a:t> Errar fazendo é parte do aprendizado.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SLIDE 18: ESTÁGIO 3: VOCÊ FAZ, EU SUPERVISIONO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Nesta fase:</a:t>
            </a:r>
          </a:p>
          <a:p>
            <a:pPr lvl="0">
              <a:lnSpc>
                <a:spcPct val="90000"/>
              </a:lnSpc>
            </a:pPr>
            <a:r>
              <a:rPr lang="pt-BR" sz="1700" b="1"/>
              <a:t>Entregue</a:t>
            </a:r>
            <a:r>
              <a:rPr lang="pt-BR" sz="1700"/>
              <a:t> a responsabilidade (sem sufocar)</a:t>
            </a:r>
          </a:p>
          <a:p>
            <a:pPr lvl="0">
              <a:lnSpc>
                <a:spcPct val="90000"/>
              </a:lnSpc>
            </a:pPr>
            <a:r>
              <a:rPr lang="pt-BR" sz="1700" b="1"/>
              <a:t>Esteja</a:t>
            </a:r>
            <a:r>
              <a:rPr lang="pt-BR" sz="1700"/>
              <a:t> disponível para dúvidas</a:t>
            </a:r>
          </a:p>
          <a:p>
            <a:pPr lvl="0">
              <a:lnSpc>
                <a:spcPct val="90000"/>
              </a:lnSpc>
            </a:pPr>
            <a:r>
              <a:rPr lang="pt-BR" sz="1700" b="1"/>
              <a:t>Observe</a:t>
            </a:r>
            <a:r>
              <a:rPr lang="pt-BR" sz="1700"/>
              <a:t> de perto (mas não faça por ele)</a:t>
            </a:r>
          </a:p>
          <a:p>
            <a:pPr lvl="0">
              <a:lnSpc>
                <a:spcPct val="90000"/>
              </a:lnSpc>
            </a:pPr>
            <a:r>
              <a:rPr lang="pt-BR" sz="1700" b="1"/>
              <a:t>Dê feedback</a:t>
            </a:r>
            <a:r>
              <a:rPr lang="pt-BR" sz="1700"/>
              <a:t> regular e honesto</a:t>
            </a:r>
          </a:p>
          <a:p>
            <a:pPr lvl="0">
              <a:lnSpc>
                <a:spcPct val="90000"/>
              </a:lnSpc>
            </a:pPr>
            <a:r>
              <a:rPr lang="pt-BR" sz="1700" b="1"/>
              <a:t>Ajuste</a:t>
            </a:r>
            <a:r>
              <a:rPr lang="pt-BR" sz="1700"/>
              <a:t> quando necessário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b="1"/>
              <a:t>Lembre-se:</a:t>
            </a:r>
            <a:r>
              <a:rPr lang="pt-BR" sz="1700"/>
              <a:t> É difícil soltar, mas é necessário.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000" b="1"/>
              <a:t>SLIDE 19: ESTÁGIO 4: VOCÊ FAZ, VOCÊ MULTIPLICA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000" b="1"/>
              <a:t>Nesta fase:</a:t>
            </a:r>
          </a:p>
          <a:p>
            <a:pPr lvl="0">
              <a:lnSpc>
                <a:spcPct val="90000"/>
              </a:lnSpc>
            </a:pPr>
            <a:r>
              <a:rPr lang="pt-BR" sz="2000" b="1"/>
              <a:t>Celebre</a:t>
            </a:r>
            <a:r>
              <a:rPr lang="pt-BR" sz="2000"/>
              <a:t> a maturidade alcançada</a:t>
            </a:r>
          </a:p>
          <a:p>
            <a:pPr lvl="0">
              <a:lnSpc>
                <a:spcPct val="90000"/>
              </a:lnSpc>
            </a:pPr>
            <a:r>
              <a:rPr lang="pt-BR" sz="2000" b="1"/>
              <a:t>Desafie</a:t>
            </a:r>
            <a:r>
              <a:rPr lang="pt-BR" sz="2000"/>
              <a:t> a pessoa a formar outros</a:t>
            </a:r>
          </a:p>
          <a:p>
            <a:pPr lvl="0">
              <a:lnSpc>
                <a:spcPct val="90000"/>
              </a:lnSpc>
            </a:pPr>
            <a:r>
              <a:rPr lang="pt-BR" sz="2000" b="1"/>
              <a:t>Dê espaço</a:t>
            </a:r>
            <a:r>
              <a:rPr lang="pt-BR" sz="2000"/>
              <a:t> para ele voar</a:t>
            </a:r>
          </a:p>
          <a:p>
            <a:pPr lvl="0">
              <a:lnSpc>
                <a:spcPct val="90000"/>
              </a:lnSpc>
            </a:pPr>
            <a:r>
              <a:rPr lang="pt-BR" sz="2000" b="1"/>
              <a:t>Continue</a:t>
            </a:r>
            <a:r>
              <a:rPr lang="pt-BR" sz="2000"/>
              <a:t> sendo mentor de longe</a:t>
            </a:r>
          </a:p>
          <a:p>
            <a:pPr lvl="0">
              <a:lnSpc>
                <a:spcPct val="90000"/>
              </a:lnSpc>
            </a:pPr>
            <a:r>
              <a:rPr lang="pt-BR" sz="2000" b="1"/>
              <a:t>Envie</a:t>
            </a:r>
            <a:r>
              <a:rPr lang="pt-BR" sz="2000"/>
              <a:t> quando Deus chamar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2000" b="1"/>
              <a:t>Lembre-se:</a:t>
            </a:r>
            <a:r>
              <a:rPr lang="pt-BR" sz="2000"/>
              <a:t> Formar é liberar, não prender.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000" b="1"/>
              <a:t>🧩 SLIDE 20: DANDO ESPAÇO PARA OS LÍDERES FLUÍREM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000" b="1"/>
              <a:t>Sinais de que você NÃO está dando espaço: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2000"/>
              <a:t>❌ Você corrige cada detalhe</a:t>
            </a:r>
            <a:br>
              <a:rPr lang="pt-BR" sz="2000"/>
            </a:br>
            <a:r>
              <a:rPr lang="pt-BR" sz="2000"/>
              <a:t>❌ Eles sempre pedem sua aprovação</a:t>
            </a:r>
            <a:br>
              <a:rPr lang="pt-BR" sz="2000"/>
            </a:br>
            <a:r>
              <a:rPr lang="pt-BR" sz="2000"/>
              <a:t>❌ Você intervém em todas as decisões</a:t>
            </a:r>
            <a:br>
              <a:rPr lang="pt-BR" sz="2000"/>
            </a:br>
            <a:r>
              <a:rPr lang="pt-BR" sz="2000"/>
              <a:t>❌ Eles têm medo de errar</a:t>
            </a:r>
            <a:br>
              <a:rPr lang="pt-BR" sz="2000"/>
            </a:br>
            <a:r>
              <a:rPr lang="pt-BR" sz="2000"/>
              <a:t>❌ Ninguém toma iniciativa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SLIDE 21: COMO DAR ESPAÇO COM SABEDORIA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3 Princípios: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Clareza nas expectativas</a:t>
            </a:r>
            <a:r>
              <a:rPr lang="pt-BR" sz="1700"/>
              <a:t> - defina o QUE, não o COMO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Confiança no processo</a:t>
            </a:r>
            <a:r>
              <a:rPr lang="pt-BR" sz="1700"/>
              <a:t> - deixe errar e aprender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Prestação de contas</a:t>
            </a:r>
            <a:r>
              <a:rPr lang="pt-BR" sz="1700"/>
              <a:t> - supervisão sem microgerenciamento</a:t>
            </a:r>
          </a:p>
          <a:p>
            <a:pPr marL="1270000" lvl="0" indent="0">
              <a:lnSpc>
                <a:spcPct val="90000"/>
              </a:lnSpc>
              <a:buNone/>
            </a:pPr>
            <a:r>
              <a:rPr lang="pt-BR" sz="1700"/>
              <a:t>“A quem muito foi dado, muito será exigido.”</a:t>
            </a:r>
            <a:br>
              <a:rPr lang="pt-BR" sz="1700"/>
            </a:br>
            <a:r>
              <a:rPr lang="pt-BR" sz="1700" b="1"/>
              <a:t>Lucas 12:48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144524"/>
            <a:ext cx="4152298" cy="2951461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500" b="1"/>
              <a:t>SLIDE 22: DELEGAÇÃO COM SABEDORIA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500" b="1"/>
              <a:t>Como delegar bem: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500" b="1"/>
              <a:t>Escolha</a:t>
            </a:r>
            <a:r>
              <a:rPr lang="pt-BR" sz="1500"/>
              <a:t> a pessoa certa para a tarefa certa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500" b="1"/>
              <a:t>Explique</a:t>
            </a:r>
            <a:r>
              <a:rPr lang="pt-BR" sz="1500"/>
              <a:t> o objetivo e a importância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500" b="1"/>
              <a:t>Delegue</a:t>
            </a:r>
            <a:r>
              <a:rPr lang="pt-BR" sz="1500"/>
              <a:t> autoridade junto com a responsabilidade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500" b="1"/>
              <a:t>Acompanhe</a:t>
            </a:r>
            <a:r>
              <a:rPr lang="pt-BR" sz="1500"/>
              <a:t> sem sufocar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500" b="1"/>
              <a:t>Celebre</a:t>
            </a:r>
            <a:r>
              <a:rPr lang="pt-BR" sz="1500"/>
              <a:t> quando terminar bem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500" b="1"/>
              <a:t>Delegar não é abandonar. É capacitar.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SLIDE 23: RESPONSABILIZAÇÃO COM CLAREZA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Toda delegação precisa de: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/>
              <a:t>✅ </a:t>
            </a:r>
            <a:r>
              <a:rPr lang="pt-BR" sz="1700" b="1"/>
              <a:t>Objetivos claros</a:t>
            </a:r>
            <a:r>
              <a:rPr lang="pt-BR" sz="1700"/>
              <a:t> - o que esperamos?</a:t>
            </a:r>
            <a:br>
              <a:rPr lang="pt-BR" sz="1700"/>
            </a:br>
            <a:r>
              <a:rPr lang="pt-BR" sz="1700"/>
              <a:t>✅ </a:t>
            </a:r>
            <a:r>
              <a:rPr lang="pt-BR" sz="1700" b="1"/>
              <a:t>Prazo definido</a:t>
            </a:r>
            <a:r>
              <a:rPr lang="pt-BR" sz="1700"/>
              <a:t> - quando queremos?</a:t>
            </a:r>
            <a:br>
              <a:rPr lang="pt-BR" sz="1700"/>
            </a:br>
            <a:r>
              <a:rPr lang="pt-BR" sz="1700"/>
              <a:t>✅ </a:t>
            </a:r>
            <a:r>
              <a:rPr lang="pt-BR" sz="1700" b="1"/>
              <a:t>Recursos disponíveis</a:t>
            </a:r>
            <a:r>
              <a:rPr lang="pt-BR" sz="1700"/>
              <a:t> - o que você tem para usar?</a:t>
            </a:r>
            <a:br>
              <a:rPr lang="pt-BR" sz="1700"/>
            </a:br>
            <a:r>
              <a:rPr lang="pt-BR" sz="1700"/>
              <a:t>✅ </a:t>
            </a:r>
            <a:r>
              <a:rPr lang="pt-BR" sz="1700" b="1"/>
              <a:t>Pontos de prestação de contas</a:t>
            </a:r>
            <a:r>
              <a:rPr lang="pt-BR" sz="1700"/>
              <a:t> - quando vamos conversar sobre?</a:t>
            </a:r>
            <a:br>
              <a:rPr lang="pt-BR" sz="1700"/>
            </a:br>
            <a:r>
              <a:rPr lang="pt-BR" sz="1700"/>
              <a:t>✅ </a:t>
            </a:r>
            <a:r>
              <a:rPr lang="pt-BR" sz="1700" b="1"/>
              <a:t>Critérios de sucesso</a:t>
            </a:r>
            <a:r>
              <a:rPr lang="pt-BR" sz="1700"/>
              <a:t> - como saberemos que deu certo?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165147"/>
            <a:ext cx="7066893" cy="4978354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1574772"/>
            <a:ext cx="1456680" cy="141716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209872" y="1119429"/>
            <a:ext cx="2240924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454369"/>
            <a:ext cx="5733470" cy="20633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☕ INTERVALO (15 minutos)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📌 BLOCO 5: ALCANCE E JORNADA DO VISITANTE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🌍 SLIDE 24: A MISSÃO DE ALCANÇAR PESSOAS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Jesus deixou uma ordem clara:</a:t>
            </a:r>
          </a:p>
          <a:p>
            <a:pPr marL="1270000" lvl="0" indent="0">
              <a:lnSpc>
                <a:spcPct val="90000"/>
              </a:lnSpc>
              <a:buNone/>
            </a:pPr>
            <a:r>
              <a:rPr lang="pt-BR" sz="1900"/>
              <a:t>“Portanto, vão e façam discípulos de todas as nações…”</a:t>
            </a:r>
            <a:br>
              <a:rPr lang="pt-BR" sz="1900"/>
            </a:br>
            <a:r>
              <a:rPr lang="pt-BR" sz="1900" b="1"/>
              <a:t>Mateus 28:19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900"/>
              <a:t>Alcançar não é só trazer gente para a igreja.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900"/>
              <a:t>É </a:t>
            </a:r>
            <a:r>
              <a:rPr lang="pt-BR" sz="1900" b="1"/>
              <a:t>conduzir pessoas a um encontro real com Cristo.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758283"/>
            <a:ext cx="3277394" cy="3277395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000" b="1"/>
              <a:t>SLIDE 25: O REINO NÃO É CONSTRUÍDO POR TALENTO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000" b="1"/>
              <a:t>É construído por ENTREGA.</a:t>
            </a:r>
          </a:p>
          <a:p>
            <a:pPr lvl="0">
              <a:lnSpc>
                <a:spcPct val="90000"/>
              </a:lnSpc>
            </a:pPr>
            <a:r>
              <a:rPr lang="pt-BR" sz="2000"/>
              <a:t>O palco e os bastidores têm o </a:t>
            </a:r>
            <a:r>
              <a:rPr lang="pt-BR" sz="2000" b="1"/>
              <a:t>mesmo valor</a:t>
            </a:r>
            <a:r>
              <a:rPr lang="pt-BR" sz="2000"/>
              <a:t> diante de Deus</a:t>
            </a:r>
          </a:p>
          <a:p>
            <a:pPr lvl="0">
              <a:lnSpc>
                <a:spcPct val="90000"/>
              </a:lnSpc>
            </a:pPr>
            <a:r>
              <a:rPr lang="pt-BR" sz="2000"/>
              <a:t>Quando cada pessoa serve com amor, o </a:t>
            </a:r>
            <a:r>
              <a:rPr lang="pt-BR" sz="2000" b="1"/>
              <a:t>Evangelho se torna visível</a:t>
            </a:r>
          </a:p>
          <a:p>
            <a:pPr lvl="0">
              <a:lnSpc>
                <a:spcPct val="90000"/>
              </a:lnSpc>
            </a:pPr>
            <a:r>
              <a:rPr lang="pt-BR" sz="2000"/>
              <a:t>Uma igreja de servos é uma igreja que </a:t>
            </a:r>
            <a:r>
              <a:rPr lang="pt-BR" sz="2000" b="1"/>
              <a:t>atrai</a:t>
            </a:r>
            <a:r>
              <a:rPr lang="pt-BR" sz="2000"/>
              <a:t> naturalmente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200" b="1"/>
              <a:t>SLIDE 26: EVANGELISMO PESSOAL E RELACIONAL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200" b="1"/>
              <a:t>As pessoas não vêm para a igreja por: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2200"/>
              <a:t>❌ Anúncios nas redes sociais (apenas)</a:t>
            </a:r>
            <a:br>
              <a:rPr lang="pt-BR" sz="2200"/>
            </a:br>
            <a:r>
              <a:rPr lang="pt-BR" sz="2200"/>
              <a:t>❌ Estrutura bonita (apenas)</a:t>
            </a:r>
            <a:br>
              <a:rPr lang="pt-BR" sz="2200"/>
            </a:br>
            <a:r>
              <a:rPr lang="pt-BR" sz="2200"/>
              <a:t>❌ Programação incrível (apenas)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200" b="1"/>
              <a:t>Elas vêm por: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2200"/>
              <a:t>✅ </a:t>
            </a:r>
            <a:r>
              <a:rPr lang="pt-BR" sz="2200" b="1"/>
              <a:t>Relacionamentos</a:t>
            </a:r>
            <a:r>
              <a:rPr lang="pt-BR" sz="2200"/>
              <a:t> genuínos</a:t>
            </a:r>
            <a:br>
              <a:rPr lang="pt-BR" sz="2200"/>
            </a:br>
            <a:r>
              <a:rPr lang="pt-BR" sz="2200"/>
              <a:t>✅ </a:t>
            </a:r>
            <a:r>
              <a:rPr lang="pt-BR" sz="2200" b="1"/>
              <a:t>Testemunho</a:t>
            </a:r>
            <a:r>
              <a:rPr lang="pt-BR" sz="2200"/>
              <a:t> de vida transformada</a:t>
            </a:r>
            <a:br>
              <a:rPr lang="pt-BR" sz="2200"/>
            </a:br>
            <a:r>
              <a:rPr lang="pt-BR" sz="2200"/>
              <a:t>✅ </a:t>
            </a:r>
            <a:r>
              <a:rPr lang="pt-BR" sz="2200" b="1"/>
              <a:t>Amor</a:t>
            </a:r>
            <a:r>
              <a:rPr lang="pt-BR" sz="2200"/>
              <a:t> demonstrado na prática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758283"/>
            <a:ext cx="3277394" cy="3277395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SLIDE 27: COMO CADA LÍDER PODE CRIAR CULTURA DE ALCANCE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5 Práticas Simples: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Ore</a:t>
            </a:r>
            <a:r>
              <a:rPr lang="pt-BR" sz="1700"/>
              <a:t> por pessoas específicas do seu círculo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Convide</a:t>
            </a:r>
            <a:r>
              <a:rPr lang="pt-BR" sz="1700"/>
              <a:t> intencionalmente (não espere que venham)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Acompanhe</a:t>
            </a:r>
            <a:r>
              <a:rPr lang="pt-BR" sz="1700"/>
              <a:t> visitantes da sua área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Integre</a:t>
            </a:r>
            <a:r>
              <a:rPr lang="pt-BR" sz="1700"/>
              <a:t> novos servos com propósito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Celebre</a:t>
            </a:r>
            <a:r>
              <a:rPr lang="pt-BR" sz="1700"/>
              <a:t> cada pessoa que se conecta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SLIDE 28: DO PRIMEIRO CONTATO À INTEGRAÇÃO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A Jornada do Visitante: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ALCANCE</a:t>
            </a:r>
            <a:r>
              <a:rPr lang="pt-BR" sz="1700"/>
              <a:t> - como eles nos conhecem?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ACOLHIDA</a:t>
            </a:r>
            <a:r>
              <a:rPr lang="pt-BR" sz="1700"/>
              <a:t> - como são recebidos?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CONEXÃO</a:t>
            </a:r>
            <a:r>
              <a:rPr lang="pt-BR" sz="1700"/>
              <a:t> - como se conectam?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DISCIPULADO</a:t>
            </a:r>
            <a:r>
              <a:rPr lang="pt-BR" sz="1700"/>
              <a:t> - como crescem?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 b="1"/>
              <a:t>SERVIÇO</a:t>
            </a:r>
            <a:r>
              <a:rPr lang="pt-BR" sz="1700"/>
              <a:t> - como se envolvem?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b="1"/>
              <a:t>Seu papel como líder:</a:t>
            </a:r>
            <a:r>
              <a:rPr lang="pt-BR" sz="1700"/>
              <a:t> Facilitar cada etapa.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758283"/>
            <a:ext cx="3277394" cy="3277395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 lnSpcReduction="10000"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000" b="1"/>
              <a:t>SLIDE 29: LÍDERES QUE FORMAM CULTURA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000" b="1"/>
              <a:t>Quando você como líder: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2000"/>
              <a:t>✅ Serve com alegria</a:t>
            </a:r>
            <a:br>
              <a:rPr lang="pt-BR" sz="2000"/>
            </a:br>
            <a:r>
              <a:rPr lang="pt-BR" sz="2000"/>
              <a:t>✅ Acolhe visitantes calorosamente</a:t>
            </a:r>
            <a:br>
              <a:rPr lang="pt-BR" sz="2000"/>
            </a:br>
            <a:r>
              <a:rPr lang="pt-BR" sz="2000"/>
              <a:t>✅ Investe em relacionamentos</a:t>
            </a:r>
            <a:br>
              <a:rPr lang="pt-BR" sz="2000"/>
            </a:br>
            <a:r>
              <a:rPr lang="pt-BR" sz="2000"/>
              <a:t>✅ Forma novos servos</a:t>
            </a:r>
            <a:br>
              <a:rPr lang="pt-BR" sz="2000"/>
            </a:br>
            <a:r>
              <a:rPr lang="pt-BR" sz="2000"/>
              <a:t>✅ Multiplica líderes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2000" b="1"/>
              <a:t>Você não está apenas “fazendo” algo.</a:t>
            </a:r>
            <a:br>
              <a:rPr lang="pt-BR" sz="2000"/>
            </a:br>
            <a:r>
              <a:rPr lang="pt-BR" sz="2000" b="1"/>
              <a:t>Você está FORMANDO uma cultura.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🎯 DINÂMICA PRÁTICA: “MEU PLANO DE MULTIPLICAÇÃO”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381628"/>
            <a:ext cx="3913467" cy="4679746"/>
            <a:chOff x="-19221" y="251144"/>
            <a:chExt cx="5217958" cy="6239661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603504"/>
            <a:ext cx="3915918" cy="3922776"/>
          </a:xfrm>
        </p:spPr>
        <p:txBody>
          <a:bodyPr anchor="ctr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pt-BR" sz="1800" b="1" dirty="0">
                <a:solidFill>
                  <a:schemeClr val="tx2"/>
                </a:solidFill>
              </a:rPr>
              <a:t>SLIDE 30: HORA DE CRIAR SEU PLANO!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pt-BR" sz="1800" b="1" dirty="0">
                <a:solidFill>
                  <a:schemeClr val="tx2"/>
                </a:solidFill>
              </a:rPr>
              <a:t>Dinâmica: Meu Plano de Multiplicação</a:t>
            </a:r>
          </a:p>
          <a:p>
            <a:pPr marL="0" lvl="0" indent="0">
              <a:buNone/>
            </a:pPr>
            <a:r>
              <a:rPr lang="pt-BR" sz="1800" b="1" dirty="0">
                <a:solidFill>
                  <a:schemeClr val="tx2"/>
                </a:solidFill>
              </a:rPr>
              <a:t>Objetivo:</a:t>
            </a:r>
            <a:r>
              <a:rPr lang="pt-BR" sz="1800" dirty="0">
                <a:solidFill>
                  <a:schemeClr val="tx2"/>
                </a:solidFill>
              </a:rPr>
              <a:t> Cada líder sai daqui com um plano prático de formação</a:t>
            </a:r>
          </a:p>
          <a:p>
            <a:pPr marL="0" lvl="0" indent="0">
              <a:buNone/>
            </a:pPr>
            <a:r>
              <a:rPr lang="pt-BR" sz="1800" b="1" dirty="0">
                <a:solidFill>
                  <a:schemeClr val="tx2"/>
                </a:solidFill>
              </a:rPr>
              <a:t>Como funciona:</a:t>
            </a:r>
            <a:r>
              <a:rPr lang="pt-BR" sz="1800" dirty="0">
                <a:solidFill>
                  <a:schemeClr val="tx2"/>
                </a:solidFill>
              </a:rPr>
              <a:t> </a:t>
            </a:r>
          </a:p>
          <a:p>
            <a:pPr lvl="0">
              <a:buAutoNum type="arabicPeriod"/>
            </a:pPr>
            <a:r>
              <a:rPr lang="pt-BR" sz="1800" dirty="0">
                <a:solidFill>
                  <a:schemeClr val="tx2"/>
                </a:solidFill>
              </a:rPr>
              <a:t>Individualmente, preencher ficha (15min) </a:t>
            </a:r>
          </a:p>
          <a:p>
            <a:pPr lvl="0">
              <a:buAutoNum type="arabicPeriod"/>
            </a:pPr>
            <a:r>
              <a:rPr lang="pt-BR" sz="1800" dirty="0">
                <a:solidFill>
                  <a:schemeClr val="tx2"/>
                </a:solidFill>
              </a:rPr>
              <a:t>Em duplas, compartilhar e orar (10min)</a:t>
            </a:r>
          </a:p>
          <a:p>
            <a:pPr lvl="0">
              <a:buAutoNum type="arabicPeriod"/>
            </a:pPr>
            <a:r>
              <a:rPr lang="pt-BR" sz="1800" dirty="0">
                <a:solidFill>
                  <a:schemeClr val="tx2"/>
                </a:solidFill>
              </a:rPr>
              <a:t>Compromisso público (5min)</a:t>
            </a:r>
          </a:p>
          <a:p>
            <a:pPr marL="0" lvl="0" indent="0">
              <a:buNone/>
            </a:pPr>
            <a:r>
              <a:rPr lang="pt-BR" sz="1800" b="1" dirty="0">
                <a:solidFill>
                  <a:schemeClr val="tx2"/>
                </a:solidFill>
              </a:rPr>
              <a:t>Tempo:</a:t>
            </a:r>
            <a:r>
              <a:rPr lang="pt-BR" sz="1800" dirty="0">
                <a:solidFill>
                  <a:schemeClr val="tx2"/>
                </a:solidFill>
              </a:rPr>
              <a:t> 30 minutos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31: PARTE 1 - QUEM ESTOU PASTOREANDO?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Liste 3 pessoas que você está mentorando/formando AGORA:</a:t>
            </a:r>
          </a:p>
          <a:p>
            <a:pPr marL="342900" lvl="0" indent="-342900">
              <a:buAutoNum type="arabicPeriod"/>
            </a:pPr>
            <a:r>
              <a:t>_________________________ (Em que estágio? 1, 2, 3 ou 4?)</a:t>
            </a:r>
          </a:p>
          <a:p>
            <a:pPr marL="342900" lvl="0" indent="-342900">
              <a:buAutoNum type="arabicPeriod"/>
            </a:pPr>
            <a:r>
              <a:t>_________________________ (Em que estágio? 1, 2, 3 ou 4?)</a:t>
            </a:r>
          </a:p>
          <a:p>
            <a:pPr marL="342900" lvl="0" indent="-342900">
              <a:buAutoNum type="arabicPeriod"/>
            </a:pPr>
            <a:r>
              <a:t>_________________________ (Em que estágio? 1, 2, 3 ou 4?)</a:t>
            </a:r>
          </a:p>
          <a:p>
            <a:pPr marL="0" lvl="0" indent="0">
              <a:buNone/>
            </a:pPr>
            <a:r>
              <a:rPr b="1"/>
              <a:t>Se não tem 3, não tem problema. Comece com quem você tem.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32: PARTE 2 - QUEM VOU DESENVOLVER?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Liste 2 potenciais líderes que você quer desenvolver nos PRÓXIMOS 6 MESES:</a:t>
            </a:r>
          </a:p>
          <a:p>
            <a:pPr marL="342900" lvl="0" indent="-342900">
              <a:buAutoNum type="arabicPeriod"/>
            </a:pPr>
            <a:r>
              <a:t>_________________________ (Por que esta pessoa?)</a:t>
            </a:r>
          </a:p>
          <a:p>
            <a:pPr marL="342900" lvl="0" indent="-342900">
              <a:buAutoNum type="arabicPeriod"/>
            </a:pPr>
            <a:r>
              <a:t>_________________________ (Por que esta pessoa?)</a:t>
            </a:r>
          </a:p>
          <a:p>
            <a:pPr marL="0" lvl="0" indent="0">
              <a:buNone/>
            </a:pPr>
            <a:r>
              <a:rPr b="1"/>
              <a:t>Ore e peça discernimento a Deus sobre quem investir.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33: PARTE 3 - AÇÃO CONCRETA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1 ação que farei ESTA SEMANA para formar alguém:</a:t>
            </a:r>
          </a:p>
          <a:p>
            <a:pPr marL="0" lvl="0" indent="0">
              <a:buNone/>
            </a:pPr>
            <a:r>
              <a:t>Exemplo: - “Vou convidar João para estar comigo na reunião de planejamento” - “Vou delegar para Maria a responsabilidade de…” - “Vou ter uma conversa de desenvolvimento com Pedro sobre…”</a:t>
            </a:r>
          </a:p>
          <a:p>
            <a:pPr marL="0" lvl="0" indent="0">
              <a:buNone/>
            </a:pPr>
            <a:r>
              <a:rPr b="1"/>
              <a:t>Sua ação:</a:t>
            </a:r>
            <a:r>
              <a:t> ___________________________________________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34: COMPARTILHANDO EM DUPLAS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Encontre um parceiro e compartilhem:</a:t>
            </a:r>
          </a:p>
          <a:p>
            <a:pPr marL="342900" lvl="0" indent="-342900">
              <a:buAutoNum type="arabicPeriod"/>
            </a:pPr>
            <a:r>
              <a:t>Quem você está formando?</a:t>
            </a:r>
          </a:p>
          <a:p>
            <a:pPr marL="342900" lvl="0" indent="-342900">
              <a:buAutoNum type="arabicPeriod"/>
            </a:pPr>
            <a:r>
              <a:t>Qual seu maior desafio na formação de líderes?</a:t>
            </a:r>
          </a:p>
          <a:p>
            <a:pPr marL="342900" lvl="0" indent="-342900">
              <a:buAutoNum type="arabicPeriod"/>
            </a:pPr>
            <a:r>
              <a:t>Que ação você vai tomar esta semana?</a:t>
            </a:r>
          </a:p>
          <a:p>
            <a:pPr marL="0" lvl="0" indent="0">
              <a:buNone/>
            </a:pPr>
            <a:r>
              <a:rPr b="1"/>
              <a:t>Orem um pelo outro.</a:t>
            </a:r>
          </a:p>
          <a:p>
            <a:pPr marL="0" lvl="0" indent="0">
              <a:buNone/>
            </a:pPr>
            <a:r>
              <a:rPr b="1"/>
              <a:t>Troquem contatos para prestação de contas.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35: COMPROMISSO PÚBLICO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Quem quer compartilhar sua ação?</a:t>
            </a:r>
          </a:p>
          <a:p>
            <a:pPr marL="0" lvl="0" indent="0">
              <a:buNone/>
            </a:pPr>
            <a:r>
              <a:t>(Permitir que 3-5 pessoas compartilhem brevemente)</a:t>
            </a:r>
          </a:p>
          <a:p>
            <a:pPr marL="0" lvl="0" indent="0">
              <a:buNone/>
            </a:pPr>
            <a:r>
              <a:rPr b="1"/>
              <a:t>Todos nós somos testemunhas desses compromissos.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📝 ENCERRAMENTO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pt-BR" sz="2200" b="1" dirty="0"/>
              <a:t>SLIDE 36: RESUMO GERAL 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pt-BR" sz="2200" b="1" dirty="0"/>
              <a:t>Em 2 encontros, aprendemos:</a:t>
            </a:r>
          </a:p>
          <a:p>
            <a:pPr marL="0" lvl="0" indent="0">
              <a:buNone/>
            </a:pPr>
            <a:r>
              <a:rPr lang="pt-BR" sz="2200" b="1" dirty="0"/>
              <a:t>ENCONTRO 1:</a:t>
            </a:r>
            <a:r>
              <a:rPr lang="pt-BR" sz="2200" dirty="0"/>
              <a:t> ✅ A diferença entre ovelhas e trabalhadores</a:t>
            </a:r>
            <a:br>
              <a:rPr lang="pt-BR" sz="2200" dirty="0"/>
            </a:br>
            <a:r>
              <a:rPr lang="pt-BR" sz="2200" dirty="0"/>
              <a:t>✅ A identidade do líder servo</a:t>
            </a:r>
            <a:br>
              <a:rPr lang="pt-BR" sz="2200" dirty="0"/>
            </a:br>
            <a:r>
              <a:rPr lang="pt-BR" sz="2200" dirty="0"/>
              <a:t>✅ Cuidar de pessoas, não de funções</a:t>
            </a:r>
          </a:p>
          <a:p>
            <a:pPr marL="0" lvl="0" indent="0">
              <a:buNone/>
            </a:pPr>
            <a:r>
              <a:rPr lang="pt-BR" sz="2200" b="1" dirty="0"/>
              <a:t>ENCONTRO 2:</a:t>
            </a:r>
            <a:r>
              <a:rPr lang="pt-BR" sz="2200" dirty="0"/>
              <a:t> ✅ Comunicação que gera unidade</a:t>
            </a:r>
            <a:br>
              <a:rPr lang="pt-BR" sz="2200" dirty="0"/>
            </a:br>
            <a:r>
              <a:rPr lang="pt-BR" sz="2200" dirty="0"/>
              <a:t>✅ Como formar novos líderes</a:t>
            </a:r>
            <a:br>
              <a:rPr lang="pt-BR" sz="2200" dirty="0"/>
            </a:br>
            <a:r>
              <a:rPr lang="pt-BR" sz="2200" dirty="0"/>
              <a:t>✅ Criar cultura de alcance e multiplicação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💎 SLIDE 37: OS 5 PRINCÍPIOS FUNDAMENTAIS</a:t>
            </a:r>
          </a:p>
          <a:p>
            <a:pPr marL="342900" lvl="0" indent="-342900">
              <a:buAutoNum type="arabicPeriod"/>
            </a:pPr>
            <a:r>
              <a:rPr b="1"/>
              <a:t>Servir é liderar, liderar é servir</a:t>
            </a:r>
          </a:p>
          <a:p>
            <a:pPr marL="342900" lvl="0" indent="-342900">
              <a:buAutoNum type="arabicPeriod"/>
            </a:pPr>
            <a:r>
              <a:rPr b="1"/>
              <a:t>Ovelhas precisam de pastoreio, líderes de aperfeiçoamento</a:t>
            </a:r>
          </a:p>
          <a:p>
            <a:pPr marL="342900" lvl="0" indent="-342900">
              <a:buAutoNum type="arabicPeriod"/>
            </a:pPr>
            <a:r>
              <a:rPr b="1"/>
              <a:t>Todo líder é uma ponte</a:t>
            </a:r>
          </a:p>
          <a:p>
            <a:pPr marL="342900" lvl="0" indent="-342900">
              <a:buAutoNum type="arabicPeriod"/>
            </a:pPr>
            <a:r>
              <a:rPr b="1"/>
              <a:t>Multiplicar é mais poderoso que reter</a:t>
            </a:r>
          </a:p>
          <a:p>
            <a:pPr marL="342900" lvl="0" indent="-342900">
              <a:buAutoNum type="arabicPeriod"/>
            </a:pPr>
            <a:r>
              <a:rPr b="1"/>
              <a:t>A colheita está parada por falta de líderes preparados</a:t>
            </a:r>
          </a:p>
          <a:p>
            <a:pPr marL="0" lvl="0" indent="0">
              <a:buNone/>
            </a:pPr>
            <a:r>
              <a:rPr b="1"/>
              <a:t>Grave isso no coração e viva isso na prática.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📖 SLIDE 38: VERSÍCULOS PARA MEMORIZAR</a:t>
            </a:r>
          </a:p>
          <a:p>
            <a:pPr marL="1270000" lvl="0" indent="0">
              <a:buNone/>
            </a:pPr>
            <a:r>
              <a:rPr sz="2000"/>
              <a:t>“A seara é grande, mas poucos são os trabalhadores.”</a:t>
            </a:r>
            <a:br/>
            <a:r>
              <a:rPr sz="2000" b="1"/>
              <a:t>Mateus 9:37</a:t>
            </a:r>
          </a:p>
          <a:p>
            <a:pPr marL="1270000" lvl="0" indent="0">
              <a:buNone/>
            </a:pPr>
            <a:r>
              <a:rPr sz="2000"/>
              <a:t>“O que de mim ouviste, transmite a homens fiéis que sejam também capazes de ensinar outros.”</a:t>
            </a:r>
            <a:br/>
            <a:r>
              <a:rPr sz="2000" b="1"/>
              <a:t>2 Timóteo 2:2</a:t>
            </a:r>
          </a:p>
          <a:p>
            <a:pPr marL="1270000" lvl="0" indent="0">
              <a:buNone/>
            </a:pPr>
            <a:r>
              <a:rPr sz="2000"/>
              <a:t>“Quem quiser ser o primeiro, seja servo de todos.”</a:t>
            </a:r>
            <a:br/>
            <a:r>
              <a:rPr sz="2000" b="1"/>
              <a:t>Marcos 10:44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758283"/>
            <a:ext cx="3277394" cy="3277395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🎯 SLIDE 39: DESAFIO FINAL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Nos próximos 30 dias: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900" b="1"/>
              <a:t>Identifique</a:t>
            </a:r>
            <a:r>
              <a:rPr lang="pt-BR" sz="1900"/>
              <a:t> 1-2 potenciais líderes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900" b="1"/>
              <a:t>Inicie</a:t>
            </a:r>
            <a:r>
              <a:rPr lang="pt-BR" sz="1900"/>
              <a:t> o processo de formação (Estágio 1: Eu faço, você observa)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900" b="1"/>
              <a:t>Delegue</a:t>
            </a:r>
            <a:r>
              <a:rPr lang="pt-BR" sz="1900"/>
              <a:t> pelo menos uma responsabilidade significativa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900" b="1"/>
              <a:t>Celebre</a:t>
            </a:r>
            <a:r>
              <a:rPr lang="pt-BR" sz="1900"/>
              <a:t> quando alguém crescer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900" b="1"/>
              <a:t>Preste contas</a:t>
            </a:r>
            <a:r>
              <a:rPr lang="pt-BR" sz="1900"/>
              <a:t> com seu parceiro da dinâmica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📚 SLIDE 40: RECURSOS DISPONÍVEIS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Para continuar crescendo:</a:t>
            </a:r>
          </a:p>
          <a:p>
            <a:pPr marL="0" lvl="0" indent="0">
              <a:buNone/>
            </a:pPr>
            <a:r>
              <a:t>✅ </a:t>
            </a:r>
            <a:r>
              <a:rPr b="1"/>
              <a:t>Manuais completos</a:t>
            </a:r>
            <a:r>
              <a:t> (links no Notion) - Manual Cultura do Servir - Manual Pastoreando Líderes - Manual Liderando Quem Serve - Manual Alcance - Jornada do Visitante</a:t>
            </a:r>
          </a:p>
          <a:p>
            <a:pPr marL="0" lvl="0" indent="0">
              <a:buNone/>
            </a:pPr>
            <a:r>
              <a:t>✅ </a:t>
            </a:r>
            <a:r>
              <a:rPr b="1"/>
              <a:t>Materiais deste curso</a:t>
            </a:r>
            <a:r>
              <a:t> - Apostila resumida - Fichas de atividades</a:t>
            </a:r>
          </a:p>
          <a:p>
            <a:pPr marL="0" lvl="0" indent="0">
              <a:buNone/>
            </a:pPr>
            <a:r>
              <a:t>✅ </a:t>
            </a:r>
            <a:r>
              <a:rPr b="1"/>
              <a:t>Suporte da liderança</a:t>
            </a:r>
            <a:r>
              <a:t> - Sempre disponível para mentoria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🏆 SLIDE 41: CERTIFICAÇÃO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Parabéns!</a:t>
            </a:r>
          </a:p>
          <a:p>
            <a:pPr marL="0" lvl="0" indent="0">
              <a:buNone/>
            </a:pPr>
            <a:r>
              <a:t>Você concluiu o </a:t>
            </a:r>
            <a:r>
              <a:rPr b="1"/>
              <a:t>Curso de Formação em Liderança Servidora</a:t>
            </a:r>
          </a:p>
          <a:p>
            <a:pPr marL="0" lvl="0" indent="0">
              <a:buNone/>
            </a:pPr>
            <a:r>
              <a:rPr b="1"/>
              <a:t>ADMC Sede - 2026</a:t>
            </a:r>
            <a:br/>
            <a:r>
              <a:t>6 horas de treinamento</a:t>
            </a:r>
          </a:p>
          <a:p>
            <a:pPr marL="0" lvl="0" indent="0">
              <a:buNone/>
            </a:pPr>
            <a:r>
              <a:rPr i="1"/>
              <a:t>Certificados serão entregues ao final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758283"/>
            <a:ext cx="3277394" cy="3277395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💙 SLIDE 42: UMA BENÇÃO PASTORAL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Que o Senhor te abençoe e te guarde.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/>
              <a:t>Que Ele faça de você um líder segundo o coração dEle.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/>
              <a:t>Um líder que </a:t>
            </a:r>
            <a:r>
              <a:rPr lang="pt-BR" sz="1700" b="1"/>
              <a:t>serve</a:t>
            </a:r>
            <a:r>
              <a:rPr lang="pt-BR" sz="1700"/>
              <a:t> com amor,</a:t>
            </a:r>
            <a:br>
              <a:rPr lang="pt-BR" sz="1700"/>
            </a:br>
            <a:r>
              <a:rPr lang="pt-BR" sz="1700"/>
              <a:t>que </a:t>
            </a:r>
            <a:r>
              <a:rPr lang="pt-BR" sz="1700" b="1"/>
              <a:t>forma</a:t>
            </a:r>
            <a:r>
              <a:rPr lang="pt-BR" sz="1700"/>
              <a:t> com intencionalidade,</a:t>
            </a:r>
            <a:br>
              <a:rPr lang="pt-BR" sz="1700"/>
            </a:br>
            <a:r>
              <a:rPr lang="pt-BR" sz="1700"/>
              <a:t>que </a:t>
            </a:r>
            <a:r>
              <a:rPr lang="pt-BR" sz="1700" b="1"/>
              <a:t>multiplica</a:t>
            </a:r>
            <a:r>
              <a:rPr lang="pt-BR" sz="1700"/>
              <a:t> com generosidade,</a:t>
            </a:r>
            <a:br>
              <a:rPr lang="pt-BR" sz="1700"/>
            </a:br>
            <a:r>
              <a:rPr lang="pt-BR" sz="1700"/>
              <a:t>e que </a:t>
            </a:r>
            <a:r>
              <a:rPr lang="pt-BR" sz="1700" b="1"/>
              <a:t>pastoreia</a:t>
            </a:r>
            <a:r>
              <a:rPr lang="pt-BR" sz="1700"/>
              <a:t> com sabedoria.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/>
              <a:t>Que sua liderança seja ponte que conecta,</a:t>
            </a:r>
            <a:br>
              <a:rPr lang="pt-BR" sz="1700"/>
            </a:br>
            <a:r>
              <a:rPr lang="pt-BR" sz="1700"/>
              <a:t>e que seus liderados sejam fruto que permanece.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500" b="1"/>
              <a:t>🙌 SLIDE 43: ORAÇÃO FINAL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500" b="1"/>
              <a:t>Vamos orar juntos: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500" i="1"/>
              <a:t>“Pai, obrigado por cada pessoa aqui.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500" i="1"/>
              <a:t>Obrigado pelo privilégio de liderar no Teu Reino.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500" i="1"/>
              <a:t>Capacita-nos a ser líderes servos que multiplicam.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500" i="1"/>
              <a:t>Dá-nos sabedoria para formar pessoas, coragem para delegar, humildade para servir e visão para multiplicar.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500" i="1"/>
              <a:t>Que nossa liderança reflita o coração de Jesus.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500" i="1"/>
              <a:t>Usa-nos para formar uma Igreja de Servos - madura, leve e cheia de propósito.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500" i="1"/>
              <a:t>Em nome de Jesus. Amém.”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758283"/>
            <a:ext cx="3277394" cy="3277395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📸 SLIDE 44: PACTO DE LIDERANÇA SERVIDORA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Hoje nos comprometemos a: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/>
              <a:t>✅ </a:t>
            </a:r>
            <a:r>
              <a:rPr lang="pt-BR" sz="1700" b="1"/>
              <a:t>Servir</a:t>
            </a:r>
            <a:r>
              <a:rPr lang="pt-BR" sz="1700"/>
              <a:t> com o coração de Cristo</a:t>
            </a:r>
            <a:br>
              <a:rPr lang="pt-BR" sz="1700"/>
            </a:br>
            <a:r>
              <a:rPr lang="pt-BR" sz="1700"/>
              <a:t>✅ </a:t>
            </a:r>
            <a:r>
              <a:rPr lang="pt-BR" sz="1700" b="1"/>
              <a:t>Cuidar</a:t>
            </a:r>
            <a:r>
              <a:rPr lang="pt-BR" sz="1700"/>
              <a:t> de pessoas, não apenas de funções</a:t>
            </a:r>
            <a:br>
              <a:rPr lang="pt-BR" sz="1700"/>
            </a:br>
            <a:r>
              <a:rPr lang="pt-BR" sz="1700"/>
              <a:t>✅ </a:t>
            </a:r>
            <a:r>
              <a:rPr lang="pt-BR" sz="1700" b="1"/>
              <a:t>Formar</a:t>
            </a:r>
            <a:r>
              <a:rPr lang="pt-BR" sz="1700"/>
              <a:t> novos líderes intencionalmente</a:t>
            </a:r>
            <a:br>
              <a:rPr lang="pt-BR" sz="1700"/>
            </a:br>
            <a:r>
              <a:rPr lang="pt-BR" sz="1700"/>
              <a:t>✅ </a:t>
            </a:r>
            <a:r>
              <a:rPr lang="pt-BR" sz="1700" b="1"/>
              <a:t>Multiplicar</a:t>
            </a:r>
            <a:r>
              <a:rPr lang="pt-BR" sz="1700"/>
              <a:t> o Reino sem medo</a:t>
            </a:r>
            <a:br>
              <a:rPr lang="pt-BR" sz="1700"/>
            </a:br>
            <a:r>
              <a:rPr lang="pt-BR" sz="1700"/>
              <a:t>✅ </a:t>
            </a:r>
            <a:r>
              <a:rPr lang="pt-BR" sz="1700" b="1"/>
              <a:t>Ser pontes</a:t>
            </a:r>
            <a:r>
              <a:rPr lang="pt-BR" sz="1700"/>
              <a:t> que conectam e inspiram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b="1"/>
              <a:t>Assinem seu Pacto de Liderança e guardem.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8343"/>
            <a:ext cx="3873137" cy="4246280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200" b="1" dirty="0"/>
              <a:t>Slides 1-3: ABERTURA (20min)</a:t>
            </a:r>
          </a:p>
          <a:p>
            <a:pPr lvl="0"/>
            <a:r>
              <a:rPr sz="1200" dirty="0" err="1"/>
              <a:t>Recapitular</a:t>
            </a:r>
            <a:r>
              <a:rPr sz="1200" dirty="0"/>
              <a:t> com </a:t>
            </a:r>
            <a:r>
              <a:rPr sz="1200" dirty="0" err="1"/>
              <a:t>energia</a:t>
            </a:r>
            <a:endParaRPr sz="1200" dirty="0"/>
          </a:p>
          <a:p>
            <a:pPr lvl="0"/>
            <a:r>
              <a:rPr sz="1200" dirty="0" err="1"/>
              <a:t>Pedir</a:t>
            </a:r>
            <a:r>
              <a:rPr sz="1200" dirty="0"/>
              <a:t> 2-3 </a:t>
            </a:r>
            <a:r>
              <a:rPr sz="1200" dirty="0" err="1"/>
              <a:t>testemunhos</a:t>
            </a:r>
            <a:r>
              <a:rPr sz="1200" dirty="0"/>
              <a:t> </a:t>
            </a:r>
            <a:r>
              <a:rPr sz="1200" dirty="0" err="1"/>
              <a:t>rápidos</a:t>
            </a:r>
            <a:r>
              <a:rPr sz="1200" dirty="0"/>
              <a:t> do </a:t>
            </a:r>
            <a:r>
              <a:rPr sz="1200" dirty="0" err="1"/>
              <a:t>Encontro</a:t>
            </a:r>
            <a:r>
              <a:rPr sz="1200" dirty="0"/>
              <a:t> 1</a:t>
            </a:r>
          </a:p>
          <a:p>
            <a:pPr lvl="0"/>
            <a:r>
              <a:rPr sz="1200" dirty="0" err="1"/>
              <a:t>Criar</a:t>
            </a:r>
            <a:r>
              <a:rPr sz="1200" dirty="0"/>
              <a:t> </a:t>
            </a:r>
            <a:r>
              <a:rPr sz="1200" dirty="0" err="1"/>
              <a:t>expectativa</a:t>
            </a:r>
            <a:r>
              <a:rPr sz="1200" dirty="0"/>
              <a:t> para o </a:t>
            </a:r>
            <a:r>
              <a:rPr sz="1200" dirty="0" err="1"/>
              <a:t>conteúdo</a:t>
            </a:r>
            <a:r>
              <a:rPr sz="1200" dirty="0"/>
              <a:t> de </a:t>
            </a:r>
            <a:r>
              <a:rPr sz="1200" dirty="0" err="1"/>
              <a:t>hoje</a:t>
            </a:r>
            <a:endParaRPr lang="pt-BR" sz="1200" dirty="0"/>
          </a:p>
          <a:p>
            <a:pPr lvl="0"/>
            <a:endParaRPr lang="pt-BR" sz="1200" b="1" dirty="0"/>
          </a:p>
          <a:p>
            <a:pPr lvl="0"/>
            <a:r>
              <a:rPr sz="1200" b="1" dirty="0"/>
              <a:t>Slides 4-11: BLOCO 3 (40min)</a:t>
            </a:r>
          </a:p>
          <a:p>
            <a:pPr lvl="0"/>
            <a:r>
              <a:rPr sz="1200" dirty="0"/>
              <a:t>Slide 8 é crucial - </a:t>
            </a:r>
            <a:r>
              <a:rPr sz="1200" dirty="0" err="1"/>
              <a:t>dar</a:t>
            </a:r>
            <a:r>
              <a:rPr sz="1200" dirty="0"/>
              <a:t> </a:t>
            </a:r>
            <a:r>
              <a:rPr sz="1200" dirty="0" err="1"/>
              <a:t>exemplos</a:t>
            </a:r>
            <a:r>
              <a:rPr sz="1200" dirty="0"/>
              <a:t> </a:t>
            </a:r>
            <a:r>
              <a:rPr sz="1200" dirty="0" err="1"/>
              <a:t>práticos</a:t>
            </a:r>
            <a:endParaRPr sz="1200" dirty="0"/>
          </a:p>
          <a:p>
            <a:pPr lvl="0"/>
            <a:r>
              <a:rPr sz="1200" dirty="0"/>
              <a:t>Slide 10 </a:t>
            </a:r>
            <a:r>
              <a:rPr sz="1200" dirty="0" err="1"/>
              <a:t>pode</a:t>
            </a:r>
            <a:r>
              <a:rPr sz="1200" dirty="0"/>
              <a:t> </a:t>
            </a:r>
            <a:r>
              <a:rPr sz="1200" dirty="0" err="1"/>
              <a:t>gerar</a:t>
            </a:r>
            <a:r>
              <a:rPr sz="1200" dirty="0"/>
              <a:t> </a:t>
            </a:r>
            <a:r>
              <a:rPr sz="1200" dirty="0" err="1"/>
              <a:t>discussão</a:t>
            </a:r>
            <a:r>
              <a:rPr sz="1200" dirty="0"/>
              <a:t> - </a:t>
            </a:r>
            <a:r>
              <a:rPr sz="1200" dirty="0" err="1"/>
              <a:t>permitir</a:t>
            </a:r>
            <a:endParaRPr sz="1200" dirty="0"/>
          </a:p>
          <a:p>
            <a:pPr lvl="0"/>
            <a:r>
              <a:rPr sz="1200" dirty="0"/>
              <a:t>Fazer </a:t>
            </a:r>
            <a:r>
              <a:rPr sz="1200" dirty="0" err="1"/>
              <a:t>perguntas</a:t>
            </a:r>
            <a:r>
              <a:rPr sz="1200" dirty="0"/>
              <a:t>: “Quem </a:t>
            </a:r>
            <a:r>
              <a:rPr sz="1200" dirty="0" err="1"/>
              <a:t>já</a:t>
            </a:r>
            <a:r>
              <a:rPr sz="1200" dirty="0"/>
              <a:t> </a:t>
            </a:r>
            <a:r>
              <a:rPr sz="1200" dirty="0" err="1"/>
              <a:t>passou</a:t>
            </a:r>
            <a:r>
              <a:rPr sz="1200" dirty="0"/>
              <a:t> </a:t>
            </a:r>
            <a:r>
              <a:rPr sz="1200" dirty="0" err="1"/>
              <a:t>por</a:t>
            </a:r>
            <a:r>
              <a:rPr sz="1200" dirty="0"/>
              <a:t> </a:t>
            </a:r>
            <a:r>
              <a:rPr sz="1200" dirty="0" err="1"/>
              <a:t>isso</a:t>
            </a:r>
            <a:r>
              <a:rPr sz="1200" dirty="0"/>
              <a:t>?”</a:t>
            </a:r>
            <a:endParaRPr lang="pt-BR" sz="1200" dirty="0"/>
          </a:p>
          <a:p>
            <a:pPr lvl="0"/>
            <a:endParaRPr lang="pt-BR" sz="1200" b="1" dirty="0"/>
          </a:p>
          <a:p>
            <a:pPr lvl="0"/>
            <a:r>
              <a:rPr sz="1200" b="1" dirty="0"/>
              <a:t>Slides 12-23: BLOCO 4 (40min)</a:t>
            </a:r>
          </a:p>
          <a:p>
            <a:pPr lvl="0"/>
            <a:r>
              <a:rPr sz="1200" dirty="0"/>
              <a:t>Slides 15-19 são o </a:t>
            </a:r>
            <a:r>
              <a:rPr sz="1200" dirty="0" err="1"/>
              <a:t>coração</a:t>
            </a:r>
            <a:r>
              <a:rPr sz="1200" dirty="0"/>
              <a:t> do </a:t>
            </a:r>
            <a:r>
              <a:rPr sz="1200" dirty="0" err="1"/>
              <a:t>curso</a:t>
            </a:r>
            <a:r>
              <a:rPr sz="1200" dirty="0"/>
              <a:t> - </a:t>
            </a:r>
            <a:r>
              <a:rPr sz="1200" dirty="0" err="1"/>
              <a:t>não</a:t>
            </a:r>
            <a:r>
              <a:rPr sz="1200" dirty="0"/>
              <a:t> </a:t>
            </a:r>
            <a:r>
              <a:rPr sz="1200" dirty="0" err="1"/>
              <a:t>apressar</a:t>
            </a:r>
            <a:endParaRPr sz="1200" dirty="0"/>
          </a:p>
          <a:p>
            <a:pPr lvl="0"/>
            <a:r>
              <a:rPr sz="1200" dirty="0"/>
              <a:t>Usar </a:t>
            </a:r>
            <a:r>
              <a:rPr sz="1200" dirty="0" err="1"/>
              <a:t>exemplos</a:t>
            </a:r>
            <a:r>
              <a:rPr sz="1200" dirty="0"/>
              <a:t> </a:t>
            </a:r>
            <a:r>
              <a:rPr sz="1200" dirty="0" err="1"/>
              <a:t>bíblicos</a:t>
            </a:r>
            <a:r>
              <a:rPr sz="1200" dirty="0"/>
              <a:t> (Jesus e </a:t>
            </a:r>
            <a:r>
              <a:rPr sz="1200" dirty="0" err="1"/>
              <a:t>os</a:t>
            </a:r>
            <a:r>
              <a:rPr sz="1200" dirty="0"/>
              <a:t> 12, Paulo e Timóteo)</a:t>
            </a:r>
          </a:p>
          <a:p>
            <a:pPr lvl="0"/>
            <a:r>
              <a:rPr sz="1200" dirty="0"/>
              <a:t>Ser </a:t>
            </a:r>
            <a:r>
              <a:rPr sz="1200" dirty="0" err="1"/>
              <a:t>transparente</a:t>
            </a:r>
            <a:r>
              <a:rPr sz="1200" dirty="0"/>
              <a:t> </a:t>
            </a:r>
            <a:r>
              <a:rPr sz="1200" dirty="0" err="1"/>
              <a:t>sobre</a:t>
            </a:r>
            <a:r>
              <a:rPr sz="1200" dirty="0"/>
              <a:t> </a:t>
            </a:r>
            <a:r>
              <a:rPr sz="1200" dirty="0" err="1"/>
              <a:t>seus</a:t>
            </a:r>
            <a:r>
              <a:rPr sz="1200" dirty="0"/>
              <a:t> </a:t>
            </a:r>
            <a:r>
              <a:rPr sz="1200" dirty="0" err="1"/>
              <a:t>próprios</a:t>
            </a:r>
            <a:r>
              <a:rPr sz="1200" dirty="0"/>
              <a:t> </a:t>
            </a:r>
            <a:r>
              <a:rPr sz="1200" dirty="0" err="1"/>
              <a:t>desafios</a:t>
            </a:r>
            <a:r>
              <a:rPr sz="1200" dirty="0"/>
              <a:t> </a:t>
            </a:r>
            <a:r>
              <a:rPr sz="1200" dirty="0" err="1"/>
              <a:t>em</a:t>
            </a:r>
            <a:r>
              <a:rPr sz="1200" dirty="0"/>
              <a:t> </a:t>
            </a:r>
            <a:r>
              <a:rPr sz="1200" dirty="0" err="1"/>
              <a:t>formar</a:t>
            </a:r>
            <a:r>
              <a:rPr sz="1200" dirty="0"/>
              <a:t> </a:t>
            </a:r>
            <a:r>
              <a:rPr sz="1200" dirty="0" err="1"/>
              <a:t>líderes</a:t>
            </a:r>
            <a:endParaRPr lang="pt-BR" sz="1200" dirty="0"/>
          </a:p>
          <a:p>
            <a:pPr lvl="0"/>
            <a:endParaRPr lang="pt-BR" sz="1200" b="1" dirty="0"/>
          </a:p>
          <a:p>
            <a:pPr marL="0" lvl="0" indent="0">
              <a:buNone/>
            </a:pPr>
            <a:r>
              <a:rPr sz="1200" b="1" dirty="0"/>
              <a:t>Slide 24: INTERVALO (15min)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EF97D17-AD38-8DC8-C1C9-178CE3496EDC}"/>
              </a:ext>
            </a:extLst>
          </p:cNvPr>
          <p:cNvSpPr txBox="1"/>
          <p:nvPr/>
        </p:nvSpPr>
        <p:spPr>
          <a:xfrm>
            <a:off x="4572000" y="344015"/>
            <a:ext cx="4010297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pt-BR" sz="1200" b="1" dirty="0"/>
              <a:t>Slides 25-29: BLOCO 5 (35min)</a:t>
            </a:r>
          </a:p>
          <a:p>
            <a:pPr lvl="0"/>
            <a:r>
              <a:rPr lang="pt-BR" sz="1200" dirty="0"/>
              <a:t>Conectar com o contexto local da ADMC</a:t>
            </a:r>
          </a:p>
          <a:p>
            <a:pPr lvl="0"/>
            <a:r>
              <a:rPr lang="pt-BR" sz="1200" dirty="0"/>
              <a:t>Compartilhar histórias de alcance da igreja</a:t>
            </a:r>
          </a:p>
          <a:p>
            <a:pPr lvl="0"/>
            <a:r>
              <a:rPr lang="pt-BR" sz="1200" dirty="0"/>
              <a:t>Inspirar com visão de crescimento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pt-BR" sz="1200" b="1" dirty="0"/>
              <a:t>Slides 30-35: DINÂMICA (30min)</a:t>
            </a:r>
          </a:p>
          <a:p>
            <a:pPr lvl="0"/>
            <a:r>
              <a:rPr lang="pt-BR" sz="1200" dirty="0"/>
              <a:t>Já ter as fichas impressas</a:t>
            </a:r>
          </a:p>
          <a:p>
            <a:pPr lvl="0"/>
            <a:r>
              <a:rPr lang="pt-BR" sz="1200" dirty="0"/>
              <a:t>Música de fundo suave durante preenchimento individual</a:t>
            </a:r>
          </a:p>
          <a:p>
            <a:pPr lvl="0"/>
            <a:r>
              <a:rPr lang="pt-BR" sz="1200" dirty="0"/>
              <a:t>Gerenciar bem o tempo das duplas</a:t>
            </a:r>
          </a:p>
          <a:p>
            <a:pPr lvl="0"/>
            <a:r>
              <a:rPr lang="pt-BR" sz="1200" dirty="0"/>
              <a:t>Criar momento emocionante nos compromissos públicos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pt-BR" sz="1200" b="1" dirty="0"/>
              <a:t>Slides 36-46: ENCERRAMENTO (20min)</a:t>
            </a:r>
          </a:p>
          <a:p>
            <a:pPr lvl="0"/>
            <a:r>
              <a:rPr lang="pt-BR" sz="1200" dirty="0"/>
              <a:t>Não apressar a oração final (é momento sagrado)</a:t>
            </a:r>
          </a:p>
          <a:p>
            <a:pPr lvl="0"/>
            <a:r>
              <a:rPr lang="pt-BR" sz="1200" dirty="0"/>
              <a:t>Entregar certificados com abraço personalizado</a:t>
            </a:r>
          </a:p>
          <a:p>
            <a:pPr lvl="0"/>
            <a:r>
              <a:rPr lang="pt-BR" sz="1200" dirty="0"/>
              <a:t>Tirar foto oficial antes que saiam</a:t>
            </a:r>
          </a:p>
          <a:p>
            <a:pPr lvl="0"/>
            <a:r>
              <a:rPr lang="pt-BR" sz="1200" dirty="0"/>
              <a:t>Ter o Pacto de Liderança impresso e bonito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2594</Words>
  <Application>Microsoft Office PowerPoint</Application>
  <PresentationFormat>Apresentação na tela (16:9)</PresentationFormat>
  <Paragraphs>296</Paragraphs>
  <Slides>52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ENCONTRO 2: PRÁTICAS DE LIDERANÇA MULTIPLICADORA</vt:lpstr>
      <vt:lpstr>Apresentação do PowerPoint</vt:lpstr>
      <vt:lpstr>Apresentação do PowerPoint</vt:lpstr>
      <vt:lpstr>Apresentação do PowerPoint</vt:lpstr>
      <vt:lpstr>📌 BLOCO 3: COMUNICAÇÃO QUE GERA UNIDADE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📌 BLOCO 4: FORMANDO NOVOS LÍDERES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☕ INTERVALO (15 minutos)</vt:lpstr>
      <vt:lpstr>📌 BLOCO 5: ALCANCE E JORNADA DO VISITANTE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🎯 DINÂMICA PRÁTICA: “MEU PLANO DE MULTIPLICAÇÃO”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📝 ENCERRAMENTO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ADEILSON PEREIRA DE ARAUJO</cp:lastModifiedBy>
  <cp:revision>1</cp:revision>
  <dcterms:created xsi:type="dcterms:W3CDTF">2026-01-12T20:28:33Z</dcterms:created>
  <dcterms:modified xsi:type="dcterms:W3CDTF">2026-01-12T21:03:18Z</dcterms:modified>
</cp:coreProperties>
</file>